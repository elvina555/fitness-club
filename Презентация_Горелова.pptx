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7" r:id="rId4"/>
  </p:sldMasterIdLst>
  <p:notesMasterIdLst>
    <p:notesMasterId r:id="rId14"/>
  </p:notesMasterIdLst>
  <p:handoutMasterIdLst>
    <p:handoutMasterId r:id="rId15"/>
  </p:handoutMasterIdLst>
  <p:sldIdLst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Эльвина" initials="Э" lastIdx="2" clrIdx="0">
    <p:extLst>
      <p:ext uri="{19B8F6BF-5375-455C-9EA6-DF929625EA0E}">
        <p15:presenceInfo xmlns:p15="http://schemas.microsoft.com/office/powerpoint/2012/main" userId="b30506812ebbca6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94" autoAdjust="0"/>
  </p:normalViewPr>
  <p:slideViewPr>
    <p:cSldViewPr snapToGrid="0">
      <p:cViewPr varScale="1">
        <p:scale>
          <a:sx n="73" d="100"/>
          <a:sy n="73" d="100"/>
        </p:scale>
        <p:origin x="91" y="245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BF008467-2CF4-44C4-BC6F-EA0C957DA656}" type="datetime1">
              <a:rPr lang="ru-RU" smtClean="0"/>
              <a:t>19.01.2026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C0A24AC-02A6-46A1-A072-EAC8AC25DC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690CFE15-E42B-4671-A8D8-54DDE9A6CC4D}" type="datetime1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0DC92804-03A6-47F6-A893-4DDB8903A80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0DC92804-03A6-47F6-A893-4DDB8903A808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0DC92804-03A6-47F6-A893-4DDB8903A80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1631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Times New Roman" panose="02020603050405020304" pitchFamily="18" charset="0"/>
              </a:endParaRPr>
            </a:p>
          </p:txBody>
        </p:sp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 rtlCol="0">
            <a:noAutofit/>
          </a:bodyPr>
          <a:lstStyle>
            <a:lvl1pPr algn="ctr">
              <a:defRPr lang="ru-RU" sz="7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75837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rtlCol="0" anchor="ctr" anchorCtr="0">
            <a:normAutofit/>
          </a:bodyPr>
          <a:lstStyle>
            <a:lvl1pPr>
              <a:defRPr lang="ru-RU" sz="4400"/>
            </a:lvl1pPr>
          </a:lstStyle>
          <a:p>
            <a:pPr algn="l" rtl="0">
              <a:lnSpc>
                <a:spcPts val="5800"/>
              </a:lnSpc>
            </a:pPr>
            <a:r>
              <a:rPr lang="ru-RU" sz="4800"/>
              <a:t>Заголовок слайда </a:t>
            </a:r>
          </a:p>
        </p:txBody>
      </p:sp>
      <p:sp>
        <p:nvSpPr>
          <p:cNvPr id="2" name="Рисунок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2638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rtlCol="0" anchor="b" anchorCtr="0">
            <a:normAutofit/>
          </a:bodyPr>
          <a:lstStyle>
            <a:lvl1pPr>
              <a:defRPr lang="ru-RU" sz="4400"/>
            </a:lvl1pPr>
          </a:lstStyle>
          <a:p>
            <a:pPr algn="l" rtl="0">
              <a:lnSpc>
                <a:spcPts val="5800"/>
              </a:lnSpc>
            </a:pPr>
            <a:r>
              <a:rPr lang="ru-RU" sz="4800"/>
              <a:t>Заголовок слайда </a:t>
            </a: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 rtlCol="0"/>
          <a:lstStyle>
            <a:lvl1pPr marL="0" indent="0">
              <a:buNone/>
              <a:defRPr lang="ru-RU"/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  <p:sp>
        <p:nvSpPr>
          <p:cNvPr id="2" name="Рисунок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ru-RU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485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ru-RU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 rtlCol="0">
            <a:normAutofit/>
          </a:bodyPr>
          <a:lstStyle>
            <a:lvl1pPr>
              <a:defRPr lang="ru-RU" sz="4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28600">
              <a:spcBef>
                <a:spcPts val="1000"/>
              </a:spcBef>
              <a:defRPr lang="ru-RU" sz="1800"/>
            </a:lvl2pPr>
            <a:lvl3pPr marL="685800">
              <a:spcBef>
                <a:spcPts val="1000"/>
              </a:spcBef>
              <a:defRPr lang="ru-RU" sz="1800"/>
            </a:lvl3pPr>
            <a:lvl4pPr marL="1143000">
              <a:spcBef>
                <a:spcPts val="1000"/>
              </a:spcBef>
              <a:defRPr lang="ru-RU" sz="1800"/>
            </a:lvl4pPr>
            <a:lvl5pPr marL="1600200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Дата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3A4F6043-7A67-491B-98BC-F933DED7226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Объект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28600">
              <a:spcBef>
                <a:spcPts val="1000"/>
              </a:spcBef>
              <a:defRPr lang="ru-RU" sz="1800"/>
            </a:lvl2pPr>
            <a:lvl3pPr marL="685800">
              <a:spcBef>
                <a:spcPts val="1000"/>
              </a:spcBef>
              <a:defRPr lang="ru-RU" sz="1800"/>
            </a:lvl3pPr>
            <a:lvl4pPr marL="1143000">
              <a:spcBef>
                <a:spcPts val="1000"/>
              </a:spcBef>
              <a:defRPr lang="ru-RU" sz="1800"/>
            </a:lvl4pPr>
            <a:lvl5pPr marL="1600200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100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ание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3" y="365760"/>
            <a:ext cx="11067089" cy="1325880"/>
          </a:xfrm>
        </p:spPr>
        <p:txBody>
          <a:bodyPr rtlCol="0" anchor="ctr">
            <a:normAutofit/>
          </a:bodyPr>
          <a:lstStyle>
            <a:lvl1pPr>
              <a:lnSpc>
                <a:spcPts val="2800"/>
              </a:lnSpc>
              <a:spcBef>
                <a:spcPts val="1000"/>
              </a:spcBef>
              <a:defRPr lang="ru-RU" sz="4400" b="0" i="0"/>
            </a:lvl1pPr>
          </a:lstStyle>
          <a:p>
            <a:pPr rtl="0"/>
            <a:r>
              <a:rPr lang="ru-RU" sz="4400"/>
              <a:t>Заголовок слайда 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A6BF945-F985-4A89-9868-A82E90E10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ru-RU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A7B33CF-0773-56F3-9F3B-1619AA666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24" y="2189377"/>
            <a:ext cx="3568990" cy="3517679"/>
          </a:xfrm>
        </p:spPr>
        <p:txBody>
          <a:bodyPr tIns="0" bIns="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Местозаполнитель таблицы 3">
            <a:extLst>
              <a:ext uri="{FF2B5EF4-FFF2-40B4-BE49-F238E27FC236}">
                <a16:creationId xmlns:a16="http://schemas.microsoft.com/office/drawing/2014/main" id="{EB4A43A1-5A81-D0D1-BD71-0485EDDD4CC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01469" y="2189377"/>
            <a:ext cx="6565769" cy="3517686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6A39699-E09B-80CC-75A3-1A20865AB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271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элемента содержимог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 rtlCol="0">
            <a:normAutofit/>
          </a:bodyPr>
          <a:lstStyle>
            <a:lvl1pPr>
              <a:defRPr lang="ru-RU" sz="4400"/>
            </a:lvl1pPr>
          </a:lstStyle>
          <a:p>
            <a:pPr rtl="0"/>
            <a:r>
              <a:rPr lang="ru-RU" sz="4400"/>
              <a:t>Заголовок слайда 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400"/>
            </a:lvl3pPr>
            <a:lvl4pPr>
              <a:defRPr lang="ru-RU" sz="1200"/>
            </a:lvl4pPr>
            <a:lvl5pPr>
              <a:defRPr lang="ru-RU" sz="11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  <a:lvl2pPr>
              <a:defRPr lang="ru-RU" sz="1800"/>
            </a:lvl2pPr>
            <a:lvl3pPr>
              <a:defRPr lang="ru-RU" sz="1400"/>
            </a:lvl3pPr>
            <a:lvl4pPr>
              <a:defRPr lang="ru-RU" sz="1200"/>
            </a:lvl4pPr>
            <a:lvl5pPr>
              <a:defRPr lang="ru-RU" sz="11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3A46AB-E26C-4F66-A0B8-4CDBD5F40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ru-RU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876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61904" cy="1325563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lang="ru-RU" sz="4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Образец текста нижнего колонтитула</a:t>
            </a:r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A4F6043-7A67-491B-98BC-F933DED7226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Местозаполнитель таблицы 4">
            <a:extLst>
              <a:ext uri="{FF2B5EF4-FFF2-40B4-BE49-F238E27FC236}">
                <a16:creationId xmlns:a16="http://schemas.microsoft.com/office/drawing/2014/main" id="{402F1FD3-6A03-65D9-EE3B-3A0AE0FD8D8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0688" y="2189377"/>
            <a:ext cx="10661840" cy="3490925"/>
          </a:xfrm>
        </p:spPr>
        <p:txBody>
          <a:bodyPr rtlCol="0"/>
          <a:lstStyle>
            <a:lvl1pPr>
              <a:defRPr lang="ru-RU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2440937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>
              <a:latin typeface="Times New Roman" panose="02020603050405020304" pitchFamily="18" charset="0"/>
            </a:endParaRPr>
          </a:p>
        </p:txBody>
      </p:sp>
      <p:cxnSp>
        <p:nvCxnSpPr>
          <p:cNvPr id="11" name="Прямая соединительная линия 10" descr="Тэг=ЦветВыделения&#10;Flavor=Light&#10;Целевой объект=линия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 descr="Tag=AccentColor&#10;Flavor=Light&#10;Целевой объект=линия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ru-RU" dirty="0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ru-RU" dirty="0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fld id="{3A4F6043-7A67-491B-98BC-F933DED7226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227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55" r:id="rId2"/>
    <p:sldLayoutId id="2147483856" r:id="rId3"/>
    <p:sldLayoutId id="2147483832" r:id="rId4"/>
    <p:sldLayoutId id="2147483854" r:id="rId5"/>
    <p:sldLayoutId id="2147483857" r:id="rId6"/>
    <p:sldLayoutId id="214748382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6000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lang="ru-RU" sz="18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lang="ru-RU" sz="18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lang="ru-RU" sz="18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lang="ru-RU" sz="18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lang="ru-RU" sz="18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932" y="837262"/>
            <a:ext cx="8534136" cy="100946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ГОСУДАРСТВЕННОЕ</a:t>
            </a:r>
            <a:r>
              <a:rPr lang="en-US" sz="1600" dirty="0">
                <a:solidFill>
                  <a:schemeClr val="tx1"/>
                </a:solidFill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АВТОНОМНОЕ ПРОФЕССИОНАЛЬНОЕ ОБРАЗОВАТЕЛЬНОЕ УЧРЕЖДЕНИЕ СВЕРДЛОВСКОЙ ОБЛАСТИ "ЕКАТЕРИНБУРГСКИЙ КОЛЛЕДЖ ТРАНСПОРТНОГО СТРОИТЕЛЬСТВА</a:t>
            </a:r>
            <a:endParaRPr lang="ru-RU" sz="16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6394C-A1E3-4E53-B317-279C185535E5}"/>
              </a:ext>
            </a:extLst>
          </p:cNvPr>
          <p:cNvSpPr txBox="1"/>
          <p:nvPr/>
        </p:nvSpPr>
        <p:spPr>
          <a:xfrm>
            <a:off x="2381316" y="2644170"/>
            <a:ext cx="74293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dirty="0"/>
              <a:t>РАЗРАБОТКА ВЕБ-САЙТА ДЛЯ ФИТНЕС КЛУБА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92D77-8E8A-4469-B045-4C92B3BD857F}"/>
              </a:ext>
            </a:extLst>
          </p:cNvPr>
          <p:cNvSpPr txBox="1"/>
          <p:nvPr/>
        </p:nvSpPr>
        <p:spPr>
          <a:xfrm>
            <a:off x="7736541" y="4840941"/>
            <a:ext cx="36396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Горелова Эльвина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ПР-41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Гариев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A888F4-7423-498E-A9A1-B9FDB4EB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415925"/>
            <a:ext cx="10661904" cy="1325563"/>
          </a:xfrm>
        </p:spPr>
        <p:txBody>
          <a:bodyPr/>
          <a:lstStyle/>
          <a:p>
            <a:r>
              <a:rPr lang="ru-RU" dirty="0"/>
              <a:t>Актуальность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705A-630B-4AF1-80A7-2D193183A746}"/>
              </a:ext>
            </a:extLst>
          </p:cNvPr>
          <p:cNvSpPr txBox="1"/>
          <p:nvPr/>
        </p:nvSpPr>
        <p:spPr>
          <a:xfrm>
            <a:off x="1546860" y="1670368"/>
            <a:ext cx="105537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Сегодня всё больше людей выбирают фитнес, как часть здорового образа жизни.</a:t>
            </a:r>
          </a:p>
          <a:p>
            <a:pPr>
              <a:lnSpc>
                <a:spcPct val="150000"/>
              </a:lnSpc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Онлайн-запись на тренировки, управление абонементами и расписанием в реальном времени — ключевые потребности рынка.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Веб-сайт позволяет клиентам быстро бронировать занятия и получать уведомления, что снижает нагрузку на администраторов.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556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A888F4-7423-498E-A9A1-B9FDB4EB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415925"/>
            <a:ext cx="10661904" cy="1325563"/>
          </a:xfrm>
        </p:spPr>
        <p:txBody>
          <a:bodyPr/>
          <a:lstStyle/>
          <a:p>
            <a:r>
              <a:rPr lang="ru-RU" dirty="0"/>
              <a:t>Предметная область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705A-630B-4AF1-80A7-2D193183A746}"/>
              </a:ext>
            </a:extLst>
          </p:cNvPr>
          <p:cNvSpPr txBox="1"/>
          <p:nvPr/>
        </p:nvSpPr>
        <p:spPr>
          <a:xfrm>
            <a:off x="1546860" y="1670368"/>
            <a:ext cx="9669780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относится к сфере услуг и бизнес-процессов в фитнес-индустрии. Он охватывает управление клиентами и тренерами, онлайн-запись на тренировки, контроль абонементов и посещаемости, а также формирование расписания.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796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A888F4-7423-498E-A9A1-B9FDB4EB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415925"/>
            <a:ext cx="10661904" cy="1325563"/>
          </a:xfrm>
        </p:spPr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705A-630B-4AF1-80A7-2D193183A746}"/>
              </a:ext>
            </a:extLst>
          </p:cNvPr>
          <p:cNvSpPr txBox="1"/>
          <p:nvPr/>
        </p:nvSpPr>
        <p:spPr>
          <a:xfrm>
            <a:off x="1567881" y="1636385"/>
            <a:ext cx="9669780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</a:t>
            </a:r>
            <a:r>
              <a:rPr lang="ru-RU" sz="2400" b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современного и удобного веб-сайта для фитнес-клуба, который автоматизирует основные процессы работы: запись на тренировки, управление расписанием, контроль абонементов и взаимодействие с клиентами.  </a:t>
            </a:r>
          </a:p>
        </p:txBody>
      </p:sp>
    </p:spTree>
    <p:extLst>
      <p:ext uri="{BB962C8B-B14F-4D97-AF65-F5344CB8AC3E}">
        <p14:creationId xmlns:p14="http://schemas.microsoft.com/office/powerpoint/2010/main" val="3198163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A888F4-7423-498E-A9A1-B9FDB4EB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415925"/>
            <a:ext cx="10661904" cy="1325563"/>
          </a:xfrm>
        </p:spPr>
        <p:txBody>
          <a:bodyPr/>
          <a:lstStyle/>
          <a:p>
            <a:r>
              <a:rPr lang="ru-RU" dirty="0"/>
              <a:t>Задачи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705A-630B-4AF1-80A7-2D193183A746}"/>
              </a:ext>
            </a:extLst>
          </p:cNvPr>
          <p:cNvSpPr txBox="1"/>
          <p:nvPr/>
        </p:nvSpPr>
        <p:spPr>
          <a:xfrm>
            <a:off x="1546860" y="1741488"/>
            <a:ext cx="966978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2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азработать базу данных для хранения информации о пользователях, тренировках и абонементах;</a:t>
            </a:r>
          </a:p>
          <a:p>
            <a:pPr indent="452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еализовать систему регистрации, аутентификации и личных кабинетов для клиентов, тренеров и администраторов;</a:t>
            </a:r>
          </a:p>
          <a:p>
            <a:pPr indent="452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оздать модуль онлайн-записи с проверкой доступности мест;</a:t>
            </a:r>
          </a:p>
          <a:p>
            <a:pPr indent="452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еализовать управление расписанием и уведомлениями.</a:t>
            </a:r>
          </a:p>
        </p:txBody>
      </p:sp>
    </p:spTree>
    <p:extLst>
      <p:ext uri="{BB962C8B-B14F-4D97-AF65-F5344CB8AC3E}">
        <p14:creationId xmlns:p14="http://schemas.microsoft.com/office/powerpoint/2010/main" val="3604209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A888F4-7423-498E-A9A1-B9FDB4EB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648" y="415925"/>
            <a:ext cx="10661904" cy="1325563"/>
          </a:xfrm>
        </p:spPr>
        <p:txBody>
          <a:bodyPr/>
          <a:lstStyle/>
          <a:p>
            <a:pPr algn="ctr"/>
            <a:r>
              <a:rPr lang="ru-RU" dirty="0"/>
              <a:t>Структура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61DD79-8138-41F1-9D4F-FDBD1886F8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65620" y="1405759"/>
            <a:ext cx="8082456" cy="4508938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2384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A888F4-7423-498E-A9A1-B9FDB4EB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415925"/>
            <a:ext cx="10661904" cy="1325563"/>
          </a:xfrm>
        </p:spPr>
        <p:txBody>
          <a:bodyPr/>
          <a:lstStyle/>
          <a:p>
            <a:r>
              <a:rPr lang="ru-RU" dirty="0"/>
              <a:t>Инструменты разработки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C95C6AD-30FC-4748-A8D3-84630A73E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737" y="1762632"/>
            <a:ext cx="3228974" cy="1687512"/>
          </a:xfrm>
          <a:prstGeom prst="rect">
            <a:avLst/>
          </a:prstGeom>
          <a:noFill/>
          <a:ln w="158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EF654AC4-2F66-4B77-80F7-AABD023AB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227" y="1762631"/>
            <a:ext cx="3228974" cy="168751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A04A2020-133A-4FA6-977D-E6D184132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473" y="3772530"/>
            <a:ext cx="3795677" cy="1964065"/>
          </a:xfrm>
          <a:prstGeom prst="rect">
            <a:avLst/>
          </a:prstGeom>
          <a:noFill/>
          <a:ln w="158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421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A888F4-7423-498E-A9A1-B9FDB4EB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415925"/>
            <a:ext cx="10661904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705A-630B-4AF1-80A7-2D193183A746}"/>
              </a:ext>
            </a:extLst>
          </p:cNvPr>
          <p:cNvSpPr txBox="1"/>
          <p:nvPr/>
        </p:nvSpPr>
        <p:spPr>
          <a:xfrm>
            <a:off x="1546859" y="1477023"/>
            <a:ext cx="9688699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2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полнофункциональное веб-приложение для фитнес-клуба;</a:t>
            </a:r>
          </a:p>
          <a:p>
            <a:pPr indent="452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еализована система для трех ролей;</a:t>
            </a:r>
          </a:p>
          <a:p>
            <a:pPr indent="452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оздана онлайн-запись с проверкой доступности мест и управлением расписанием;</a:t>
            </a:r>
          </a:p>
          <a:p>
            <a:pPr indent="452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система уведомлений.</a:t>
            </a:r>
          </a:p>
          <a:p>
            <a:pPr indent="452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4610A4-A681-45FE-B368-3114BBC1F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241" y="3762704"/>
            <a:ext cx="2354317" cy="2100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B7CE2B-9858-4CEE-BEEF-B178860702C6}"/>
              </a:ext>
            </a:extLst>
          </p:cNvPr>
          <p:cNvSpPr txBox="1"/>
          <p:nvPr/>
        </p:nvSpPr>
        <p:spPr>
          <a:xfrm>
            <a:off x="9640614" y="5730099"/>
            <a:ext cx="116402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1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930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932" y="837262"/>
            <a:ext cx="8534136" cy="100946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ГОСУДАРСТВЕННОЕ</a:t>
            </a:r>
            <a:r>
              <a:rPr lang="en-US" sz="1600" dirty="0">
                <a:solidFill>
                  <a:schemeClr val="tx1"/>
                </a:solidFill>
                <a:ea typeface="Roboto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АВТОНОМНОЕ ПРОФЕССИОНАЛЬНОЕ ОБРАЗОВАТЕЛЬНОЕ УЧРЕЖДЕНИЕ СВЕРДЛОВСКОЙ ОБЛАСТИ "ЕКАТЕРИНБУРГСКИЙ КОЛЛЕДЖ ТРАНСПОРТНОГО СТРОИТЕЛЬСТВА</a:t>
            </a:r>
            <a:endParaRPr lang="ru-RU" sz="16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6394C-A1E3-4E53-B317-279C185535E5}"/>
              </a:ext>
            </a:extLst>
          </p:cNvPr>
          <p:cNvSpPr txBox="1"/>
          <p:nvPr/>
        </p:nvSpPr>
        <p:spPr>
          <a:xfrm>
            <a:off x="2381316" y="2644170"/>
            <a:ext cx="74293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dirty="0"/>
              <a:t>ПЕРЕЙДЕМ К ДЕМОНСТРАЦИИ</a:t>
            </a:r>
          </a:p>
        </p:txBody>
      </p:sp>
    </p:spTree>
    <p:extLst>
      <p:ext uri="{BB962C8B-B14F-4D97-AF65-F5344CB8AC3E}">
        <p14:creationId xmlns:p14="http://schemas.microsoft.com/office/powerpoint/2010/main" val="2403448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473_TF67338807_Win32" id="{76AE3442-7759-4F22-A978-3DEE1EAB63F8}" vid="{A427BFC0-F09E-4096-BB8B-7F687B37E8F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Дизайн со смещением</Template>
  <TotalTime>264</TotalTime>
  <Words>235</Words>
  <Application>Microsoft Office PowerPoint</Application>
  <PresentationFormat>Широкоэкранный</PresentationFormat>
  <Paragraphs>29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Dante</vt:lpstr>
      <vt:lpstr>Helvetica Neue Medium</vt:lpstr>
      <vt:lpstr>Times New Roman</vt:lpstr>
      <vt:lpstr>Wingdings 2</vt:lpstr>
      <vt:lpstr>OffsetVTI</vt:lpstr>
      <vt:lpstr>ГОСУДАРСТВЕННОЕ АВТОНОМНОЕ ПРОФЕССИОНАЛЬНОЕ ОБРАЗОВАТЕЛЬНОЕ УЧРЕЖДЕНИЕ СВЕРДЛОВСКОЙ ОБЛАСТИ "ЕКАТЕРИНБУРГСКИЙ КОЛЛЕДЖ ТРАНСПОРТНОГО СТРОИТЕЛЬСТВА</vt:lpstr>
      <vt:lpstr>Актуальность проекта</vt:lpstr>
      <vt:lpstr>Предметная область</vt:lpstr>
      <vt:lpstr>Цель проекта</vt:lpstr>
      <vt:lpstr>Задачи проекта</vt:lpstr>
      <vt:lpstr>Структура базы данных</vt:lpstr>
      <vt:lpstr>Инструменты разработки</vt:lpstr>
      <vt:lpstr>Заключение</vt:lpstr>
      <vt:lpstr>ГОСУДАРСТВЕННОЕ АВТОНОМНОЕ ПРОФЕССИОНАЛЬНОЕ ОБРАЗОВАТЕЛЬНОЕ УЧРЕЖДЕНИЕ СВЕРДЛОВСКОЙ ОБЛАСТИ "ЕКАТЕРИНБУРГСКИЙ КОЛЛЕДЖ ТРАНСПОРТНОГО СТРОИТЕЛЬСТВА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АВТОНОМНОЕ ПРОФЕССИОНАЛЬНОЕ ОБРАЗОВАТЕЛЬНОЕ УЧРЕЖДЕНИЕ СВЕРДЛОВСКОЙ ОБЛАСТИ "ЕКАТЕРИНБУРГСКИЙ КОЛЛЕДЖ ТРАНСПОРТНОГО СТРОИТЕЛЬСТВА</dc:title>
  <dc:creator>Эльвина</dc:creator>
  <cp:lastModifiedBy>Эльвина</cp:lastModifiedBy>
  <cp:revision>9</cp:revision>
  <dcterms:created xsi:type="dcterms:W3CDTF">2026-01-18T15:42:44Z</dcterms:created>
  <dcterms:modified xsi:type="dcterms:W3CDTF">2026-01-19T17:00:38Z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